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34"/>
  </p:notesMasterIdLst>
  <p:sldIdLst>
    <p:sldId id="256" r:id="rId2"/>
    <p:sldId id="258" r:id="rId3"/>
    <p:sldId id="260" r:id="rId4"/>
    <p:sldId id="312" r:id="rId5"/>
    <p:sldId id="341" r:id="rId6"/>
    <p:sldId id="314" r:id="rId7"/>
    <p:sldId id="313" r:id="rId8"/>
    <p:sldId id="342" r:id="rId9"/>
    <p:sldId id="343" r:id="rId10"/>
    <p:sldId id="345" r:id="rId11"/>
    <p:sldId id="346" r:id="rId12"/>
    <p:sldId id="347" r:id="rId13"/>
    <p:sldId id="349" r:id="rId14"/>
    <p:sldId id="348" r:id="rId15"/>
    <p:sldId id="350" r:id="rId16"/>
    <p:sldId id="353" r:id="rId17"/>
    <p:sldId id="351" r:id="rId18"/>
    <p:sldId id="352" r:id="rId19"/>
    <p:sldId id="354" r:id="rId20"/>
    <p:sldId id="357" r:id="rId21"/>
    <p:sldId id="356" r:id="rId22"/>
    <p:sldId id="359" r:id="rId23"/>
    <p:sldId id="360" r:id="rId24"/>
    <p:sldId id="361" r:id="rId25"/>
    <p:sldId id="363" r:id="rId26"/>
    <p:sldId id="364" r:id="rId27"/>
    <p:sldId id="358" r:id="rId28"/>
    <p:sldId id="365" r:id="rId29"/>
    <p:sldId id="367" r:id="rId30"/>
    <p:sldId id="368" r:id="rId31"/>
    <p:sldId id="366" r:id="rId32"/>
    <p:sldId id="329" r:id="rId33"/>
  </p:sldIdLst>
  <p:sldSz cx="9144000" cy="5143500" type="screen16x9"/>
  <p:notesSz cx="6858000" cy="9144000"/>
  <p:embeddedFontLst>
    <p:embeddedFont>
      <p:font typeface="Albert Sans" panose="020B0604020202020204" charset="0"/>
      <p:regular r:id="rId35"/>
      <p:bold r:id="rId36"/>
      <p:italic r:id="rId37"/>
      <p:boldItalic r:id="rId38"/>
    </p:embeddedFont>
    <p:embeddedFont>
      <p:font typeface="Alexandria Medium" panose="020B0604020202020204" charset="-78"/>
      <p:regular r:id="rId39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5669"/>
    <a:srgbClr val="ACDEEC"/>
    <a:srgbClr val="43656E"/>
    <a:srgbClr val="FFF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9D2820-3025-494B-BCA4-C2BF6F9F02E9}">
  <a:tblStyle styleId="{769D2820-3025-494B-BCA4-C2BF6F9F02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C5DBBC2-F176-4C35-843F-43BAB5412D7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558abb5f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88" name="Google Shape;188;g2558abb5f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553b51d4f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4" name="Google Shape;204;g2553b51d4f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6378A70B-921C-C825-D1C9-32F75C5F3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AC3F7FE3-AFB4-A23A-1AC4-BFABE42C99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506C3FE4-5F99-010F-CA7D-4C7182B8A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8671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96724094-FAB4-4C74-5989-10ED9A155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16C2EFD9-10F3-CBF6-DDA9-6BADC27FF7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8B3FFD9D-F232-C31D-E060-26F0DCCD18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54253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210079F6-342A-5227-9402-39A5DD42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775FB18-C84D-A2D9-C8A8-7F621F562B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87427ECB-B804-0043-9017-AABF11DFD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0753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E7A35529-846A-D7AF-1C6A-FC955F8D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B733E20B-61E2-B8A3-D853-8D04A627E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A3811D89-4A14-1032-EA33-B62D86374D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52719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FB4AF43F-B433-D6EB-25CF-9AF5BF543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958A90E-8DA0-DC38-0113-A400F59D1A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92C151CB-B490-9EA6-C1E7-DEE1B5DBD3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6007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D3D977D-8B8C-A7AD-0404-ECB501ABA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B0F6A4C0-6CBE-E800-7C2F-F196DAC7D7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46BB2C37-157A-9DF8-22D9-234EC471FA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23120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F0A82426-6527-F111-4EB6-8B86A3ED5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C5AD24AA-608E-45D6-802C-7E15D4BCD5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AEED667F-2D8B-D1F8-5AB0-C31F3E0E54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67630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A3A446A6-4DA9-3BDD-E4E2-075FE83AB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B33EBF04-E900-BCCD-8AFA-CC6423EE2B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5207357E-DAA4-284B-9546-CB70639282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921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9F65AC4-97A6-2409-7B97-5AAE4430C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731A538E-CCC3-0AE0-7F34-2CE45DBDB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69C167DD-476F-11BA-343D-D9DFB05C7B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57857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8BD99D39-2CF1-1BFC-8324-542F8B98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67D0FF79-B38C-E5F7-9193-B9A337AEC1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15075DD-570F-646E-4EB7-29C48BBA1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8165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A2C347EC-79AB-C82F-D2F0-B25F40B1F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670F6293-52B4-BBB2-66DE-CA31C2622A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184FD90-C594-67D6-A8D5-0FEFB61C43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6026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9EE7B00C-7DAA-060A-31C5-495E6AEB0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5B961A7C-9EAF-A0EB-7F5A-40352A2DB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0AAEDFF4-0EAF-9A78-5BED-CFDB418294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28199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BB2B149-F148-3B21-32AC-50AB37A16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4B491AC6-F9A9-5CF1-63FA-73E10D4263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8336746-9E7B-0D33-9831-9E3178202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51329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CF1183B3-F5F6-19F3-A849-67E67633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280F52FB-42D1-FFBE-2CDC-8A1D60BD4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47E8CE86-6E91-D441-038F-189D353501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44098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600FDA30-494C-3EDF-70D9-56110D32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36D0AC65-D04A-9713-03AC-3CCA399661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4D24AA32-9683-AF8A-4D28-B874919C3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38236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19B4CBED-1207-832E-17C5-63224DD1A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2CA02201-348C-60A8-F935-26F8B2DEA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02743C9D-6BA5-7ED6-1AC6-94E9F3F29D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3142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EBEEBFD-9F19-B9EF-D992-EC0A1D8AE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1CA02F1A-9874-53B8-4934-11E133FF0D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84C37F6-025A-EDC1-9369-C0D081E31C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16929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279FF3AA-57A7-EDC2-F57E-F7ADAD3EF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9F789D8-7CE5-57B8-708B-E624219DBD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2A842C66-7DBA-C6E4-160F-07CDF5025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93591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9377AE2F-2F5E-CCF3-BB27-35F4EABB5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EAFB928-3B33-C914-B560-B16623B207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F7ED9F71-4D86-1980-55AE-C5C2AD4FF8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4609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CE889E44-A638-51BE-BBDB-8588E7B83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043CE73E-4FBD-6CFF-8655-B2581544B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FB491F7-7B05-3BF8-DE92-47A903D16B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46360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F63FA19-A8BF-A1B9-F36A-2A479EA48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0C8CF20E-9BEF-3DFD-8A96-41A2E80E49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104A2D46-B6B8-9344-2342-33AACBED33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1106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9FDF45A-A9A2-BB5A-9D64-F60349AF5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8ED9AAE4-9EFB-EF95-FC7B-AD1BA2AB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C67626B-5A7C-20D9-A1F6-73413CB6D2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77915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D1B32C9E-A7B5-8F2E-08E3-062D58FDD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AE1FFB89-8D57-9597-48A2-4A5CD7EA7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35B870A-D0F9-9D9B-B23B-2FD0059CE9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37497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623CF0CA-C15B-C7C6-946B-29964DEC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26828A98-2D58-6A89-7CBE-566B466E5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977F41B-CBF3-2024-5AE8-78A5DF3D1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68917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CCFA529-A3FF-BF59-7340-62F900FE2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18BB4AF1-F04F-726B-4D01-05C72E12A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0E84BDD6-8DF4-1AC2-1B59-83A409B96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5779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50F681A3-BD63-4406-2629-09FE39C2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0AE90CB5-C446-4AFD-B4A7-8A6420FE68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39D008F2-1B14-94F2-B7EC-713E92F758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2932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FE4DD960-7246-78D9-9B20-3D156AAA1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72B6E572-BB55-919D-2C6C-D774273A7C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085AE06-189C-0774-C8F8-B9239BBE02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849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DCD915EF-DC6F-B7D6-F66E-663A22B50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EEE9543B-23BD-814D-2297-8C2AB02F08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ECA6156-4D83-0E14-C6D6-FE7E401CFE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2562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>
          <a:extLst>
            <a:ext uri="{FF2B5EF4-FFF2-40B4-BE49-F238E27FC236}">
              <a16:creationId xmlns:a16="http://schemas.microsoft.com/office/drawing/2014/main" id="{F82FAD5B-59B5-A163-0CD3-61D219B38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572bee519d_0_205:notes">
            <a:extLst>
              <a:ext uri="{FF2B5EF4-FFF2-40B4-BE49-F238E27FC236}">
                <a16:creationId xmlns:a16="http://schemas.microsoft.com/office/drawing/2014/main" id="{7BBF7FC7-B9D8-9525-171F-92A3338CC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76" name="Google Shape;376;g2572bee519d_0_205:notes">
            <a:extLst>
              <a:ext uri="{FF2B5EF4-FFF2-40B4-BE49-F238E27FC236}">
                <a16:creationId xmlns:a16="http://schemas.microsoft.com/office/drawing/2014/main" id="{56EEC327-9011-8D6B-E559-624202968E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425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-19689" t="41478" r="19690" b="2272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1750" y="1958600"/>
            <a:ext cx="4280100" cy="26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9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4572000" y="535000"/>
            <a:ext cx="3860400" cy="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 rotWithShape="1">
          <a:blip r:embed="rId3">
            <a:alphaModFix/>
          </a:blip>
          <a:srcRect l="36283" t="30" r="-6" b="-40"/>
          <a:stretch/>
        </p:blipFill>
        <p:spPr>
          <a:xfrm rot="10800000">
            <a:off x="5864950" y="-3275"/>
            <a:ext cx="3279050" cy="514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3328050"/>
            <a:ext cx="7708800" cy="12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715100" y="2074250"/>
            <a:ext cx="7708800" cy="125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7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4572000" y="535000"/>
            <a:ext cx="3856800" cy="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title" hasCustomPrompt="1"/>
          </p:nvPr>
        </p:nvSpPr>
        <p:spPr>
          <a:xfrm>
            <a:off x="1070650" y="13673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1609075" y="1367325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2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3" hasCustomPrompt="1"/>
          </p:nvPr>
        </p:nvSpPr>
        <p:spPr>
          <a:xfrm>
            <a:off x="1070650" y="21035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4"/>
          </p:nvPr>
        </p:nvSpPr>
        <p:spPr>
          <a:xfrm>
            <a:off x="1609075" y="2103524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5" hasCustomPrompt="1"/>
          </p:nvPr>
        </p:nvSpPr>
        <p:spPr>
          <a:xfrm>
            <a:off x="1070650" y="2839750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6"/>
          </p:nvPr>
        </p:nvSpPr>
        <p:spPr>
          <a:xfrm>
            <a:off x="1609075" y="2839748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7" hasCustomPrompt="1"/>
          </p:nvPr>
        </p:nvSpPr>
        <p:spPr>
          <a:xfrm>
            <a:off x="1070650" y="3575950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8"/>
          </p:nvPr>
        </p:nvSpPr>
        <p:spPr>
          <a:xfrm>
            <a:off x="1609075" y="3575948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9" hasCustomPrompt="1"/>
          </p:nvPr>
        </p:nvSpPr>
        <p:spPr>
          <a:xfrm>
            <a:off x="4927449" y="13673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3"/>
          </p:nvPr>
        </p:nvSpPr>
        <p:spPr>
          <a:xfrm>
            <a:off x="5465950" y="1367325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4" hasCustomPrompt="1"/>
          </p:nvPr>
        </p:nvSpPr>
        <p:spPr>
          <a:xfrm>
            <a:off x="4927449" y="2103522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5"/>
          </p:nvPr>
        </p:nvSpPr>
        <p:spPr>
          <a:xfrm>
            <a:off x="5465950" y="2103519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6" hasCustomPrompt="1"/>
          </p:nvPr>
        </p:nvSpPr>
        <p:spPr>
          <a:xfrm>
            <a:off x="4927449" y="2839728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7"/>
          </p:nvPr>
        </p:nvSpPr>
        <p:spPr>
          <a:xfrm>
            <a:off x="5465950" y="2839721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18" hasCustomPrompt="1"/>
          </p:nvPr>
        </p:nvSpPr>
        <p:spPr>
          <a:xfrm>
            <a:off x="4927449" y="35759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9"/>
          </p:nvPr>
        </p:nvSpPr>
        <p:spPr>
          <a:xfrm>
            <a:off x="5465950" y="3575916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4"/>
          <p:cNvPicPr preferRelativeResize="0"/>
          <p:nvPr/>
        </p:nvPicPr>
        <p:blipFill rotWithShape="1">
          <a:blip r:embed="rId2">
            <a:alphaModFix/>
          </a:blip>
          <a:srcRect l="-6643" t="13471" r="27548" b="-35825"/>
          <a:stretch/>
        </p:blipFill>
        <p:spPr>
          <a:xfrm>
            <a:off x="5819050" y="0"/>
            <a:ext cx="332495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4"/>
          <p:cNvSpPr txBox="1">
            <a:spLocks noGrp="1"/>
          </p:cNvSpPr>
          <p:nvPr>
            <p:ph type="subTitle" idx="1"/>
          </p:nvPr>
        </p:nvSpPr>
        <p:spPr>
          <a:xfrm>
            <a:off x="715100" y="1503175"/>
            <a:ext cx="5930100" cy="20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2"/>
          </p:nvPr>
        </p:nvSpPr>
        <p:spPr>
          <a:xfrm>
            <a:off x="715100" y="3965300"/>
            <a:ext cx="5930100" cy="45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lt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0"/>
          <p:cNvPicPr preferRelativeResize="0"/>
          <p:nvPr/>
        </p:nvPicPr>
        <p:blipFill rotWithShape="1">
          <a:blip r:embed="rId2">
            <a:alphaModFix/>
          </a:blip>
          <a:srcRect l="-6643" t="13471" r="27548" b="-35825"/>
          <a:stretch/>
        </p:blipFill>
        <p:spPr>
          <a:xfrm flipH="1">
            <a:off x="-10680" y="-2437"/>
            <a:ext cx="332129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0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 flipH="1">
            <a:off x="-10680" y="-2437"/>
            <a:ext cx="9144080" cy="514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1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31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83700"/>
            <a:ext cx="7713900" cy="3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59" r:id="rId4"/>
    <p:sldLayoutId id="2147483660" r:id="rId5"/>
    <p:sldLayoutId id="2147483676" r:id="rId6"/>
    <p:sldLayoutId id="214748367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mwf.int/en/about/media-centre/news/2015/course-probes-numerical-methods-weather-forecasting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File:MultiLayerNeuralNetwork_english.png" TargetMode="External"/><Relationship Id="rId4" Type="http://schemas.openxmlformats.org/officeDocument/2006/relationships/hyperlink" Target="https://www.newswire.ca/news-releases/ibm-makes-higher-quality-weather-forecasts-available-worldwide-857519446.html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5"/>
          <p:cNvSpPr txBox="1">
            <a:spLocks noGrp="1"/>
          </p:cNvSpPr>
          <p:nvPr>
            <p:ph type="ctrTitle"/>
          </p:nvPr>
        </p:nvSpPr>
        <p:spPr>
          <a:xfrm>
            <a:off x="748920" y="546240"/>
            <a:ext cx="5807997" cy="246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6000" dirty="0"/>
              <a:t>Wave Properties Forecasting</a:t>
            </a:r>
            <a:endParaRPr sz="6000" dirty="0"/>
          </a:p>
        </p:txBody>
      </p:sp>
      <p:sp>
        <p:nvSpPr>
          <p:cNvPr id="6" name="Google Shape;222;p37">
            <a:extLst>
              <a:ext uri="{FF2B5EF4-FFF2-40B4-BE49-F238E27FC236}">
                <a16:creationId xmlns:a16="http://schemas.microsoft.com/office/drawing/2014/main" id="{353D89B6-17F0-855B-971D-1130F116D1A9}"/>
              </a:ext>
            </a:extLst>
          </p:cNvPr>
          <p:cNvSpPr txBox="1">
            <a:spLocks/>
          </p:cNvSpPr>
          <p:nvPr/>
        </p:nvSpPr>
        <p:spPr>
          <a:xfrm>
            <a:off x="748920" y="3712596"/>
            <a:ext cx="7664605" cy="8846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 err="1">
                <a:solidFill>
                  <a:schemeClr val="accent1"/>
                </a:solidFill>
              </a:rPr>
              <a:t>DATAz</a:t>
            </a:r>
            <a:r>
              <a:rPr lang="en-US" sz="2000" b="1" dirty="0">
                <a:solidFill>
                  <a:schemeClr val="accent1"/>
                </a:solidFill>
              </a:rPr>
              <a:t> - Digital Twin for the Azores Free Technological Zone</a:t>
            </a:r>
          </a:p>
        </p:txBody>
      </p:sp>
      <p:sp>
        <p:nvSpPr>
          <p:cNvPr id="4" name="Google Shape;222;p37">
            <a:extLst>
              <a:ext uri="{FF2B5EF4-FFF2-40B4-BE49-F238E27FC236}">
                <a16:creationId xmlns:a16="http://schemas.microsoft.com/office/drawing/2014/main" id="{D227B642-5755-E105-E807-D3A319C91B20}"/>
              </a:ext>
            </a:extLst>
          </p:cNvPr>
          <p:cNvSpPr txBox="1">
            <a:spLocks/>
          </p:cNvSpPr>
          <p:nvPr/>
        </p:nvSpPr>
        <p:spPr>
          <a:xfrm>
            <a:off x="5049573" y="4474596"/>
            <a:ext cx="3834231" cy="4468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 b="1" dirty="0">
                <a:solidFill>
                  <a:schemeClr val="tx1"/>
                </a:solidFill>
              </a:rPr>
              <a:t>Bernardo Chagas, nº 103639, Grupo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>
            <a:spLocks noGrp="1"/>
          </p:cNvSpPr>
          <p:nvPr>
            <p:ph type="title"/>
          </p:nvPr>
        </p:nvSpPr>
        <p:spPr>
          <a:xfrm>
            <a:off x="1070650" y="13673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7" name="Google Shape;207;p37"/>
          <p:cNvSpPr txBox="1">
            <a:spLocks noGrp="1"/>
          </p:cNvSpPr>
          <p:nvPr>
            <p:ph type="subTitle" idx="1"/>
          </p:nvPr>
        </p:nvSpPr>
        <p:spPr>
          <a:xfrm>
            <a:off x="1609075" y="1367325"/>
            <a:ext cx="2780046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Introduction &amp; Problem Definition</a:t>
            </a:r>
          </a:p>
        </p:txBody>
      </p:sp>
      <p:sp>
        <p:nvSpPr>
          <p:cNvPr id="208" name="Google Shape;208;p37"/>
          <p:cNvSpPr txBox="1">
            <a:spLocks noGrp="1"/>
          </p:cNvSpPr>
          <p:nvPr>
            <p:ph type="title" idx="2"/>
          </p:nvPr>
        </p:nvSpPr>
        <p:spPr>
          <a:xfrm>
            <a:off x="715100" y="535000"/>
            <a:ext cx="77139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09" name="Google Shape;209;p37"/>
          <p:cNvSpPr txBox="1">
            <a:spLocks noGrp="1"/>
          </p:cNvSpPr>
          <p:nvPr>
            <p:ph type="title" idx="3"/>
          </p:nvPr>
        </p:nvSpPr>
        <p:spPr>
          <a:xfrm>
            <a:off x="1070650" y="21035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0" name="Google Shape;210;p37"/>
          <p:cNvSpPr txBox="1">
            <a:spLocks noGrp="1"/>
          </p:cNvSpPr>
          <p:nvPr>
            <p:ph type="subTitle" idx="4"/>
          </p:nvPr>
        </p:nvSpPr>
        <p:spPr>
          <a:xfrm>
            <a:off x="1609075" y="2103533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ERA5 Dataset &amp; Data Preparation</a:t>
            </a:r>
            <a:endParaRPr dirty="0"/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 idx="5"/>
          </p:nvPr>
        </p:nvSpPr>
        <p:spPr>
          <a:xfrm>
            <a:off x="1070650" y="2839750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subTitle" idx="6"/>
          </p:nvPr>
        </p:nvSpPr>
        <p:spPr>
          <a:xfrm>
            <a:off x="1609075" y="2839740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Methodology &amp; Approach</a:t>
            </a:r>
          </a:p>
        </p:txBody>
      </p:sp>
      <p:sp>
        <p:nvSpPr>
          <p:cNvPr id="213" name="Google Shape;213;p37"/>
          <p:cNvSpPr txBox="1">
            <a:spLocks noGrp="1"/>
          </p:cNvSpPr>
          <p:nvPr>
            <p:ph type="title" idx="7"/>
          </p:nvPr>
        </p:nvSpPr>
        <p:spPr>
          <a:xfrm>
            <a:off x="1070650" y="3575950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subTitle" idx="8"/>
          </p:nvPr>
        </p:nvSpPr>
        <p:spPr>
          <a:xfrm>
            <a:off x="1609075" y="3575948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Architecture Design</a:t>
            </a:r>
          </a:p>
        </p:txBody>
      </p:sp>
      <p:sp>
        <p:nvSpPr>
          <p:cNvPr id="215" name="Google Shape;215;p37"/>
          <p:cNvSpPr txBox="1">
            <a:spLocks noGrp="1"/>
          </p:cNvSpPr>
          <p:nvPr>
            <p:ph type="title" idx="9"/>
          </p:nvPr>
        </p:nvSpPr>
        <p:spPr>
          <a:xfrm>
            <a:off x="4927449" y="13673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216" name="Google Shape;216;p37"/>
          <p:cNvSpPr txBox="1">
            <a:spLocks noGrp="1"/>
          </p:cNvSpPr>
          <p:nvPr>
            <p:ph type="subTitle" idx="13"/>
          </p:nvPr>
        </p:nvSpPr>
        <p:spPr>
          <a:xfrm>
            <a:off x="5465950" y="1367325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Results &amp; Performance</a:t>
            </a:r>
          </a:p>
        </p:txBody>
      </p:sp>
      <p:sp>
        <p:nvSpPr>
          <p:cNvPr id="217" name="Google Shape;217;p37"/>
          <p:cNvSpPr txBox="1">
            <a:spLocks noGrp="1"/>
          </p:cNvSpPr>
          <p:nvPr>
            <p:ph type="title" idx="14"/>
          </p:nvPr>
        </p:nvSpPr>
        <p:spPr>
          <a:xfrm>
            <a:off x="4927449" y="2103522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218" name="Google Shape;218;p37"/>
          <p:cNvSpPr txBox="1">
            <a:spLocks noGrp="1"/>
          </p:cNvSpPr>
          <p:nvPr>
            <p:ph type="subTitle" idx="15"/>
          </p:nvPr>
        </p:nvSpPr>
        <p:spPr>
          <a:xfrm>
            <a:off x="5465950" y="2103519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Discussion</a:t>
            </a:r>
            <a:endParaRPr dirty="0"/>
          </a:p>
        </p:txBody>
      </p:sp>
      <p:sp>
        <p:nvSpPr>
          <p:cNvPr id="219" name="Google Shape;219;p37"/>
          <p:cNvSpPr txBox="1">
            <a:spLocks noGrp="1"/>
          </p:cNvSpPr>
          <p:nvPr>
            <p:ph type="title" idx="16"/>
          </p:nvPr>
        </p:nvSpPr>
        <p:spPr>
          <a:xfrm>
            <a:off x="4927449" y="2839728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220" name="Google Shape;220;p37"/>
          <p:cNvSpPr txBox="1">
            <a:spLocks noGrp="1"/>
          </p:cNvSpPr>
          <p:nvPr>
            <p:ph type="subTitle" idx="17"/>
          </p:nvPr>
        </p:nvSpPr>
        <p:spPr>
          <a:xfrm>
            <a:off x="5465950" y="2839721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Conclusion</a:t>
            </a:r>
            <a:endParaRPr dirty="0"/>
          </a:p>
        </p:txBody>
      </p:sp>
      <p:sp>
        <p:nvSpPr>
          <p:cNvPr id="221" name="Google Shape;221;p37"/>
          <p:cNvSpPr txBox="1">
            <a:spLocks noGrp="1"/>
          </p:cNvSpPr>
          <p:nvPr>
            <p:ph type="title" idx="18"/>
          </p:nvPr>
        </p:nvSpPr>
        <p:spPr>
          <a:xfrm>
            <a:off x="4927449" y="35759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222" name="Google Shape;222;p37"/>
          <p:cNvSpPr txBox="1">
            <a:spLocks noGrp="1"/>
          </p:cNvSpPr>
          <p:nvPr>
            <p:ph type="subTitle" idx="19"/>
          </p:nvPr>
        </p:nvSpPr>
        <p:spPr>
          <a:xfrm>
            <a:off x="5465950" y="3575916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Next Steps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/>
          <p:cNvSpPr txBox="1">
            <a:spLocks noGrp="1"/>
          </p:cNvSpPr>
          <p:nvPr>
            <p:ph type="title"/>
          </p:nvPr>
        </p:nvSpPr>
        <p:spPr>
          <a:xfrm>
            <a:off x="357550" y="2170889"/>
            <a:ext cx="84289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sz="6600" dirty="0"/>
              <a:t>Introduction &amp; Problem 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9BF305C9-5D58-F664-46E6-73E284E46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69698B85-8ABF-B82F-E3E7-948781F8C9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Project Overview</a:t>
            </a:r>
          </a:p>
        </p:txBody>
      </p:sp>
      <p:sp>
        <p:nvSpPr>
          <p:cNvPr id="236" name="Google Shape;236;p39">
            <a:extLst>
              <a:ext uri="{FF2B5EF4-FFF2-40B4-BE49-F238E27FC236}">
                <a16:creationId xmlns:a16="http://schemas.microsoft.com/office/drawing/2014/main" id="{A3CD9E05-EC8B-C571-72E9-8F96460FE01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2785" y="1063083"/>
            <a:ext cx="7118430" cy="36799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2400" indent="0"/>
            <a:r>
              <a:rPr lang="en-US" sz="1600" b="1" dirty="0"/>
              <a:t>Data-driven forecasting model</a:t>
            </a:r>
            <a:r>
              <a:rPr lang="en-US" sz="1600" dirty="0"/>
              <a:t> for wave properties in the Azores region, integrated within the </a:t>
            </a:r>
            <a:r>
              <a:rPr lang="en-US" sz="1600" b="1" dirty="0"/>
              <a:t>Digital Twin of the Ocean (DTO)</a:t>
            </a:r>
            <a:r>
              <a:rPr lang="en-US" sz="1600" dirty="0"/>
              <a:t> initiative.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r>
              <a:rPr lang="en-US" sz="1600" b="1" dirty="0"/>
              <a:t>Key Innovation</a:t>
            </a:r>
          </a:p>
          <a:p>
            <a:pPr marL="152400" indent="0"/>
            <a:r>
              <a:rPr lang="en-US" sz="1600" dirty="0"/>
              <a:t>Replacing computationally intensive traditional numerical weather prediction methods with efficient AI-driven alternatives using ERA5 reanalysis data.</a:t>
            </a:r>
          </a:p>
          <a:p>
            <a:endParaRPr lang="en-US" sz="1600" dirty="0"/>
          </a:p>
          <a:p>
            <a:r>
              <a:rPr lang="en-US" sz="1600" b="1" dirty="0"/>
              <a:t>Wave Parameters Forecasted</a:t>
            </a:r>
            <a:endParaRPr lang="en-US" sz="16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Mean wave direction (</a:t>
            </a:r>
            <a:r>
              <a:rPr lang="en-US" sz="1600" dirty="0" err="1"/>
              <a:t>mwd</a:t>
            </a:r>
            <a:r>
              <a:rPr lang="en-US" sz="1600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Mean wave period (</a:t>
            </a:r>
            <a:r>
              <a:rPr lang="en-US" sz="1600" dirty="0" err="1"/>
              <a:t>mwp</a:t>
            </a:r>
            <a:r>
              <a:rPr lang="en-US" sz="1600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Significant wave height (</a:t>
            </a:r>
            <a:r>
              <a:rPr lang="en-US" sz="1600" dirty="0" err="1"/>
              <a:t>swh</a:t>
            </a:r>
            <a:r>
              <a:rPr lang="en-US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73718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B59F181F-4155-CD1C-D513-D8A4BC62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A8C8021-419E-B231-F9E6-E230D11892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The Challenge</a:t>
            </a:r>
            <a:br>
              <a:rPr lang="en-US" sz="2400" b="1" dirty="0"/>
            </a:br>
            <a:endParaRPr lang="en-US" sz="2400" b="1" dirty="0"/>
          </a:p>
        </p:txBody>
      </p:sp>
      <p:sp>
        <p:nvSpPr>
          <p:cNvPr id="236" name="Google Shape;236;p39">
            <a:extLst>
              <a:ext uri="{FF2B5EF4-FFF2-40B4-BE49-F238E27FC236}">
                <a16:creationId xmlns:a16="http://schemas.microsoft.com/office/drawing/2014/main" id="{D71D7213-8AE4-26A9-DCDC-846243E20F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5787" y="1006166"/>
            <a:ext cx="5172425" cy="17767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>
                <a:solidFill>
                  <a:schemeClr val="accent1"/>
                </a:solidFill>
              </a:rPr>
              <a:t>Weather Forecasting Complexity</a:t>
            </a:r>
            <a:endParaRPr lang="en-US" sz="1600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Requires solving large-scale numerical models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High spatial and temporal resolution needed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Demands significant computational power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Energy-intensive processes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Dependent on supercomputing infrastructures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3576F5-1E28-2045-BDBF-22FE1527CB45}"/>
              </a:ext>
            </a:extLst>
          </p:cNvPr>
          <p:cNvSpPr txBox="1"/>
          <p:nvPr/>
        </p:nvSpPr>
        <p:spPr>
          <a:xfrm>
            <a:off x="5545952" y="4441499"/>
            <a:ext cx="25546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dk1"/>
                </a:solidFill>
                <a:latin typeface="Albert Sans"/>
                <a:sym typeface="Albert Sans"/>
              </a:rPr>
              <a:t>IBM's Global High-Resolution Atmospheric Forecasting (GRAF)</a:t>
            </a:r>
          </a:p>
        </p:txBody>
      </p:sp>
      <p:pic>
        <p:nvPicPr>
          <p:cNvPr id="1026" name="Picture 2" descr="IBM's GRAF System for Accurate Weather Forecasting | by IndraStra Global |  IndraStra Global | Medium">
            <a:extLst>
              <a:ext uri="{FF2B5EF4-FFF2-40B4-BE49-F238E27FC236}">
                <a16:creationId xmlns:a16="http://schemas.microsoft.com/office/drawing/2014/main" id="{4C908817-B14C-A990-BAB0-911915BA6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7482" y="2792494"/>
            <a:ext cx="2931566" cy="164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urse probes numerical methods in weather forecasting | ECMWF">
            <a:extLst>
              <a:ext uri="{FF2B5EF4-FFF2-40B4-BE49-F238E27FC236}">
                <a16:creationId xmlns:a16="http://schemas.microsoft.com/office/drawing/2014/main" id="{D8D5AADC-9618-CA27-D514-8BF60A6FE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20" b="95632" l="2308" r="90000">
                        <a14:foregroundMark x1="7538" y1="50115" x2="7538" y2="50115"/>
                        <a14:foregroundMark x1="3846" y1="48736" x2="3846" y2="48736"/>
                        <a14:foregroundMark x1="24000" y1="6207" x2="24000" y2="6207"/>
                        <a14:foregroundMark x1="30000" y1="920" x2="30000" y2="920"/>
                        <a14:foregroundMark x1="2308" y1="40460" x2="2308" y2="40460"/>
                        <a14:foregroundMark x1="76769" y1="93333" x2="35385" y2="95632"/>
                        <a14:foregroundMark x1="35385" y1="95632" x2="34923" y2="9540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1200" y="2782927"/>
            <a:ext cx="2464030" cy="164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6DC3A0-D541-ABCD-4CA0-11E2FC997246}"/>
              </a:ext>
            </a:extLst>
          </p:cNvPr>
          <p:cNvSpPr txBox="1"/>
          <p:nvPr/>
        </p:nvSpPr>
        <p:spPr>
          <a:xfrm>
            <a:off x="1282493" y="4437781"/>
            <a:ext cx="25546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dk1"/>
                </a:solidFill>
                <a:latin typeface="Albert Sans"/>
                <a:sym typeface="Albert Sans"/>
              </a:rPr>
              <a:t>High-Resolution Numerical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8BF1EE-91DF-BBE5-4964-3F18E90B0604}"/>
              </a:ext>
            </a:extLst>
          </p:cNvPr>
          <p:cNvSpPr txBox="1"/>
          <p:nvPr/>
        </p:nvSpPr>
        <p:spPr>
          <a:xfrm>
            <a:off x="3152078" y="2782927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(1)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90658D-F890-082A-2C42-53D717EBFCC0}"/>
              </a:ext>
            </a:extLst>
          </p:cNvPr>
          <p:cNvSpPr txBox="1"/>
          <p:nvPr/>
        </p:nvSpPr>
        <p:spPr>
          <a:xfrm>
            <a:off x="7914724" y="2782926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(2)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3439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85A262B9-6117-4091-DA92-2779835B2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0D4FE5A-827B-74D0-E227-7E2C63C5DD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Project Goals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22D9426-9CAA-A0A1-0A3A-CC8AB5B62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200" y="1196637"/>
            <a:ext cx="7777600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Primary Objective</a:t>
            </a:r>
          </a:p>
          <a:p>
            <a:pPr marL="438150" indent="-285750">
              <a:buFont typeface="Wingdings" panose="05000000000000000000" pitchFamily="2" charset="2"/>
              <a:buChar char="Ø"/>
            </a:pPr>
            <a:r>
              <a:rPr lang="en-US" sz="1600" dirty="0"/>
              <a:t>Enable evaluation of weather and oceanic scenarios in a virtual environment that does not rely solely on high-performance computing systems.</a:t>
            </a:r>
          </a:p>
          <a:p>
            <a:endParaRPr lang="en-US" sz="1600" dirty="0"/>
          </a:p>
          <a:p>
            <a:pPr marL="152400" indent="0"/>
            <a:r>
              <a:rPr lang="en-US" sz="1600" b="1" dirty="0">
                <a:solidFill>
                  <a:schemeClr val="accent1"/>
                </a:solidFill>
              </a:rPr>
              <a:t>Practical Application</a:t>
            </a:r>
          </a:p>
          <a:p>
            <a:pPr marL="438150" indent="-285750">
              <a:buFont typeface="Wingdings" panose="05000000000000000000" pitchFamily="2" charset="2"/>
              <a:buChar char="Ø"/>
            </a:pPr>
            <a:r>
              <a:rPr lang="en-US" sz="1600" dirty="0"/>
              <a:t>Allow the study of </a:t>
            </a:r>
            <a:r>
              <a:rPr lang="en-US" sz="1600" b="1" dirty="0"/>
              <a:t>what-if scenarios</a:t>
            </a:r>
            <a:r>
              <a:rPr lang="en-US" sz="1600" dirty="0"/>
              <a:t>, providing a powerful tool for decision-makers.</a:t>
            </a:r>
          </a:p>
          <a:p>
            <a:endParaRPr lang="en-US" sz="1600" dirty="0"/>
          </a:p>
          <a:p>
            <a:pPr marL="152400" indent="0"/>
            <a:r>
              <a:rPr lang="en-US" sz="1600" b="1" dirty="0">
                <a:solidFill>
                  <a:schemeClr val="accent1"/>
                </a:solidFill>
              </a:rPr>
              <a:t>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Preliminary study using ERA5 hourly time-series data from the Copernicus Climate Data Store (CDS), focusing on the Azores Free Technological Zone.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65162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438F60F-1E0A-5B5A-A632-553DD0E49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B81CA370-7D58-FF0B-95F4-415143865E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6600" dirty="0"/>
              <a:t>ERA5 Dataset &amp; Data Preparation</a:t>
            </a:r>
            <a:br>
              <a:rPr lang="en-US" b="1" dirty="0"/>
            </a:b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7596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BF226543-418A-8E7E-1DB3-CB345BD7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343A7F48-71E4-1EFB-C3F4-352D2D711D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</a:t>
            </a:r>
            <a:endParaRPr lang="en-US" sz="240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1107BC8-0ADE-0931-3B3F-728226800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Characteristics</a:t>
            </a:r>
            <a:endParaRPr lang="en-US" sz="1600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Hourly atmospheric and oceanographic records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Spatial resolution: 0.25° in latitude and longitude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Data assimilation from historical observations (weather stations, ships, buoys, satellites)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Numerical models constrained by real observations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pPr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Result</a:t>
            </a:r>
          </a:p>
          <a:p>
            <a:pPr marL="152400" indent="0"/>
            <a:r>
              <a:rPr lang="en-US" sz="1600" b="1" dirty="0"/>
              <a:t>Coherent, gridded information system providing consistent estimates of atmospheric state over time.</a:t>
            </a:r>
          </a:p>
        </p:txBody>
      </p:sp>
    </p:spTree>
    <p:extLst>
      <p:ext uri="{BB962C8B-B14F-4D97-AF65-F5344CB8AC3E}">
        <p14:creationId xmlns:p14="http://schemas.microsoft.com/office/powerpoint/2010/main" val="582937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ED2A035E-D355-748C-2099-30E687B13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020BFDD6-EBC3-2E4B-4F18-B7EE7AD5B9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Dataset: </a:t>
            </a:r>
            <a:r>
              <a:rPr lang="en-US" sz="2400" dirty="0"/>
              <a:t>Variables</a:t>
            </a:r>
            <a:endParaRPr lang="en-US" sz="240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C74D19-7B6D-FB00-5062-4E5CEE15F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221972"/>
              </p:ext>
            </p:extLst>
          </p:nvPr>
        </p:nvGraphicFramePr>
        <p:xfrm>
          <a:off x="281756" y="1416979"/>
          <a:ext cx="3875709" cy="2966720"/>
        </p:xfrm>
        <a:graphic>
          <a:graphicData uri="http://schemas.openxmlformats.org/drawingml/2006/table">
            <a:tbl>
              <a:tblPr firstRow="1" bandRow="1">
                <a:tableStyleId>{769D2820-3025-494B-BCA4-C2BF6F9F02E9}</a:tableStyleId>
              </a:tblPr>
              <a:tblGrid>
                <a:gridCol w="883206">
                  <a:extLst>
                    <a:ext uri="{9D8B030D-6E8A-4147-A177-3AD203B41FA5}">
                      <a16:colId xmlns:a16="http://schemas.microsoft.com/office/drawing/2014/main" val="1538601586"/>
                    </a:ext>
                  </a:extLst>
                </a:gridCol>
                <a:gridCol w="2393978">
                  <a:extLst>
                    <a:ext uri="{9D8B030D-6E8A-4147-A177-3AD203B41FA5}">
                      <a16:colId xmlns:a16="http://schemas.microsoft.com/office/drawing/2014/main" val="4273230717"/>
                    </a:ext>
                  </a:extLst>
                </a:gridCol>
                <a:gridCol w="598525">
                  <a:extLst>
                    <a:ext uri="{9D8B030D-6E8A-4147-A177-3AD203B41FA5}">
                      <a16:colId xmlns:a16="http://schemas.microsoft.com/office/drawing/2014/main" val="17798082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Variable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Description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Units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222122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u10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U-component of 10 m wind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m/s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29185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v10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V-component of 10 m wind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m/s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869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d2m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2 m dew point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806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t2m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2 m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296989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msl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Mean sea level pressure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Pa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11424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sst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Sea surface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13015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skt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Skin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27098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8AE0AE-D6EF-3D18-7E3A-29F828C5E9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081766"/>
              </p:ext>
            </p:extLst>
          </p:nvPr>
        </p:nvGraphicFramePr>
        <p:xfrm>
          <a:off x="4157465" y="1416979"/>
          <a:ext cx="4798265" cy="2966720"/>
        </p:xfrm>
        <a:graphic>
          <a:graphicData uri="http://schemas.openxmlformats.org/drawingml/2006/table">
            <a:tbl>
              <a:tblPr firstRow="1" bandRow="1">
                <a:tableStyleId>{769D2820-3025-494B-BCA4-C2BF6F9F02E9}</a:tableStyleId>
              </a:tblPr>
              <a:tblGrid>
                <a:gridCol w="852488">
                  <a:extLst>
                    <a:ext uri="{9D8B030D-6E8A-4147-A177-3AD203B41FA5}">
                      <a16:colId xmlns:a16="http://schemas.microsoft.com/office/drawing/2014/main" val="3982334003"/>
                    </a:ext>
                  </a:extLst>
                </a:gridCol>
                <a:gridCol w="3142147">
                  <a:extLst>
                    <a:ext uri="{9D8B030D-6E8A-4147-A177-3AD203B41FA5}">
                      <a16:colId xmlns:a16="http://schemas.microsoft.com/office/drawing/2014/main" val="379449061"/>
                    </a:ext>
                  </a:extLst>
                </a:gridCol>
                <a:gridCol w="803630">
                  <a:extLst>
                    <a:ext uri="{9D8B030D-6E8A-4147-A177-3AD203B41FA5}">
                      <a16:colId xmlns:a16="http://schemas.microsoft.com/office/drawing/2014/main" val="405808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Variable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Description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Units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92268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sp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Surface pressure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Pa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96218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ssrd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Surface solar radiation downwards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J/m²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72977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strd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Surface thermal radiation downwards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J/m²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48857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tp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Total precipitation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209646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mwd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Mean wave direction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degrees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5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mwp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Mean wave period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405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swh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Significant wave height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4423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750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50FE52AB-DAC9-2FF3-50A1-A6C4911F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BB1F97EF-D5D0-A34A-B112-84C3D66F0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06837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Dataset: </a:t>
            </a:r>
            <a:r>
              <a:rPr lang="en-US" sz="2400" dirty="0"/>
              <a:t>Data Preparation Process</a:t>
            </a: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191CBD2-065E-E9D6-83E6-927C3985A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b="1" dirty="0"/>
              <a:t>Download Process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Python notebook "0. Download </a:t>
            </a:r>
            <a:r>
              <a:rPr lang="en-US" dirty="0" err="1"/>
              <a:t>Dataset.ipynb</a:t>
            </a:r>
            <a:r>
              <a:rPr lang="en-US" dirty="0"/>
              <a:t>" developed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API configuration for data retrieval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Specified space and time intervals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Files downloaded in ZIP format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Two different files per spatial point</a:t>
            </a:r>
          </a:p>
          <a:p>
            <a:r>
              <a:rPr lang="en-US" b="1" dirty="0"/>
              <a:t>Processing: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Files extracted and merged into single file per spatial point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Data stored in "</a:t>
            </a:r>
            <a:r>
              <a:rPr lang="en-US" dirty="0" err="1"/>
              <a:t>dataset_train</a:t>
            </a:r>
            <a:r>
              <a:rPr lang="en-US" dirty="0"/>
              <a:t>" and "</a:t>
            </a:r>
            <a:r>
              <a:rPr lang="en-US" dirty="0" err="1"/>
              <a:t>dataset_test</a:t>
            </a:r>
            <a:r>
              <a:rPr lang="en-US" dirty="0"/>
              <a:t>" folders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"1. </a:t>
            </a:r>
            <a:r>
              <a:rPr lang="en-US" dirty="0" err="1"/>
              <a:t>Preprocessing.ipynb</a:t>
            </a:r>
            <a:r>
              <a:rPr lang="en-US" dirty="0"/>
              <a:t>" notebook compiled datasets into "combined.nc"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Visualization procedures developed</a:t>
            </a:r>
          </a:p>
        </p:txBody>
      </p:sp>
    </p:spTree>
    <p:extLst>
      <p:ext uri="{BB962C8B-B14F-4D97-AF65-F5344CB8AC3E}">
        <p14:creationId xmlns:p14="http://schemas.microsoft.com/office/powerpoint/2010/main" val="1576609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554A9B58-B362-AC22-0B5A-52284266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87EC37F6-F267-FFEE-A661-BBC0BC2AE1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06837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Dataset: </a:t>
            </a:r>
            <a:r>
              <a:rPr lang="en-US" sz="2400" dirty="0"/>
              <a:t>Data Preparation Process</a:t>
            </a:r>
            <a:br>
              <a:rPr lang="en-US" sz="2400" b="1" dirty="0"/>
            </a:br>
            <a:endParaRPr lang="en-US" sz="2400" b="1" dirty="0"/>
          </a:p>
        </p:txBody>
      </p:sp>
      <p:pic>
        <p:nvPicPr>
          <p:cNvPr id="6" name="Picture 5" descr="A map of the islands&#10;&#10;AI-generated content may be incorrect.">
            <a:extLst>
              <a:ext uri="{FF2B5EF4-FFF2-40B4-BE49-F238E27FC236}">
                <a16:creationId xmlns:a16="http://schemas.microsoft.com/office/drawing/2014/main" id="{44B82384-5399-DB05-BA87-B39072D1C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688" y="1057106"/>
            <a:ext cx="5948623" cy="378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07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C4AB89CC-EBE2-B4ED-FBA0-F16524E89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emporal Animation - Azores Region">
            <a:hlinkClick r:id="" action="ppaction://media"/>
            <a:extLst>
              <a:ext uri="{FF2B5EF4-FFF2-40B4-BE49-F238E27FC236}">
                <a16:creationId xmlns:a16="http://schemas.microsoft.com/office/drawing/2014/main" id="{311F4D77-6CCC-7B64-9424-DF12F2B0B6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86329" y="221592"/>
            <a:ext cx="6171341" cy="4700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94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D64D8DFA-1400-E8E4-36B9-7AA4AF218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EA16BB96-029C-79BA-1E6F-A2D821754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Methodology &amp; Approach</a:t>
            </a:r>
            <a:br>
              <a:rPr lang="en-US" b="1" dirty="0"/>
            </a:b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3669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4C322B4-F744-2B32-0150-C4792BBEB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0DBBF29D-E811-B7D0-944D-CFA194CC0D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Methodology &amp; Approach: </a:t>
            </a:r>
            <a:r>
              <a:rPr lang="en-US" sz="2400" dirty="0"/>
              <a:t>Region Selection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4BB666D-D0D4-C4E0-DE48-CCFBBB260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Geographical Boundaries</a:t>
            </a:r>
            <a:endParaRPr lang="en-US" sz="1600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Latitude: 35° to 41° North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Longitude: 23° to 33° West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Coverage</a:t>
            </a:r>
            <a:br>
              <a:rPr lang="en-US" sz="1600" dirty="0"/>
            </a:br>
            <a:r>
              <a:rPr lang="en-US" sz="1600" dirty="0"/>
              <a:t>Adequately covers the Azores Archipelago and surrounding oceanic area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Time Period</a:t>
            </a:r>
            <a:br>
              <a:rPr lang="en-US" sz="1600" dirty="0"/>
            </a:br>
            <a:r>
              <a:rPr lang="en-US" sz="1600" dirty="0"/>
              <a:t>January 1st, 2025 to October 3rd, 2025</a:t>
            </a:r>
            <a:br>
              <a:rPr lang="en-US" sz="1600" dirty="0"/>
            </a:br>
            <a:r>
              <a:rPr lang="en-US" sz="1600" dirty="0"/>
              <a:t>Total: 6,624 registers per spatial point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Rationale</a:t>
            </a:r>
            <a:br>
              <a:rPr lang="en-US" sz="1600" dirty="0"/>
            </a:br>
            <a:r>
              <a:rPr lang="en-US" sz="1600" dirty="0"/>
              <a:t>Representative </a:t>
            </a:r>
            <a:r>
              <a:rPr lang="en-US" dirty="0"/>
              <a:t>analysis of local atmospheric and oceanographic dynamics</a:t>
            </a:r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B1CC1C60-57DC-A09C-F698-2BB352131D51}"/>
              </a:ext>
            </a:extLst>
          </p:cNvPr>
          <p:cNvSpPr/>
          <p:nvPr/>
        </p:nvSpPr>
        <p:spPr>
          <a:xfrm>
            <a:off x="4460487" y="1331135"/>
            <a:ext cx="4401015" cy="706244"/>
          </a:xfrm>
          <a:prstGeom prst="wedgeRectCallout">
            <a:avLst>
              <a:gd name="adj1" fmla="val -72980"/>
              <a:gd name="adj2" fmla="val -40564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24 rows (latitude) * 41 columns (longitude) * 6624</a:t>
            </a:r>
          </a:p>
          <a:p>
            <a:pPr algn="ctr"/>
            <a:endParaRPr lang="en-US" b="1" dirty="0"/>
          </a:p>
          <a:p>
            <a:pPr algn="ctr"/>
            <a:r>
              <a:rPr lang="en-US" b="1" dirty="0"/>
              <a:t>= 6,5 millions of registers</a:t>
            </a:r>
          </a:p>
        </p:txBody>
      </p:sp>
    </p:spTree>
    <p:extLst>
      <p:ext uri="{BB962C8B-B14F-4D97-AF65-F5344CB8AC3E}">
        <p14:creationId xmlns:p14="http://schemas.microsoft.com/office/powerpoint/2010/main" val="901466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58D34AA1-07A1-C6FA-962B-D3DB4986D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380E94A9-E1C2-3CEF-A52D-52A2F6BBD3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Methodology &amp; Approach: </a:t>
            </a:r>
            <a:r>
              <a:rPr lang="en-US" sz="2400" dirty="0"/>
              <a:t>General Approach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FA34208-803B-73C8-B31E-3BE3825CB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Grid-Based Approach</a:t>
            </a:r>
            <a:br>
              <a:rPr lang="en-US" dirty="0"/>
            </a:br>
            <a:r>
              <a:rPr lang="en-US" dirty="0"/>
              <a:t>Incorporates information from neighboring points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1"/>
                </a:solidFill>
              </a:rPr>
              <a:t>Rationale</a:t>
            </a:r>
            <a:br>
              <a:rPr lang="en-US" dirty="0"/>
            </a:br>
            <a:r>
              <a:rPr lang="en-US" dirty="0"/>
              <a:t>Wave behavior is spatially correlated; evolution of a target point is influenced by surrounding environmental conditions.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1"/>
                </a:solidFill>
              </a:rPr>
              <a:t>Implementation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Central point + 8 adjacent neighbors</a:t>
            </a:r>
          </a:p>
          <a:p>
            <a:r>
              <a:rPr lang="en-US" dirty="0"/>
              <a:t>Wave properties predicted one hour ahead using data from all 9 points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28C51A-1939-EFB8-27D6-1941EC224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866909"/>
              </p:ext>
            </p:extLst>
          </p:nvPr>
        </p:nvGraphicFramePr>
        <p:xfrm>
          <a:off x="1198399" y="3762978"/>
          <a:ext cx="1457094" cy="1112520"/>
        </p:xfrm>
        <a:graphic>
          <a:graphicData uri="http://schemas.openxmlformats.org/drawingml/2006/table">
            <a:tbl>
              <a:tblPr firstRow="1" bandRow="1">
                <a:tableStyleId>{CC5DBBC2-F176-4C35-843F-43BAB5412D7A}</a:tableStyleId>
              </a:tblPr>
              <a:tblGrid>
                <a:gridCol w="485698">
                  <a:extLst>
                    <a:ext uri="{9D8B030D-6E8A-4147-A177-3AD203B41FA5}">
                      <a16:colId xmlns:a16="http://schemas.microsoft.com/office/drawing/2014/main" val="4021962947"/>
                    </a:ext>
                  </a:extLst>
                </a:gridCol>
                <a:gridCol w="485698">
                  <a:extLst>
                    <a:ext uri="{9D8B030D-6E8A-4147-A177-3AD203B41FA5}">
                      <a16:colId xmlns:a16="http://schemas.microsoft.com/office/drawing/2014/main" val="2310482016"/>
                    </a:ext>
                  </a:extLst>
                </a:gridCol>
                <a:gridCol w="485698">
                  <a:extLst>
                    <a:ext uri="{9D8B030D-6E8A-4147-A177-3AD203B41FA5}">
                      <a16:colId xmlns:a16="http://schemas.microsoft.com/office/drawing/2014/main" val="1666079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825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5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6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887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9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6479759"/>
                  </a:ext>
                </a:extLst>
              </a:tr>
            </a:tbl>
          </a:graphicData>
        </a:graphic>
      </p:graphicFrame>
      <p:sp>
        <p:nvSpPr>
          <p:cNvPr id="5" name="Subtitle 3">
            <a:extLst>
              <a:ext uri="{FF2B5EF4-FFF2-40B4-BE49-F238E27FC236}">
                <a16:creationId xmlns:a16="http://schemas.microsoft.com/office/drawing/2014/main" id="{085482C5-E7DB-0129-3AC6-21FE5A764254}"/>
              </a:ext>
            </a:extLst>
          </p:cNvPr>
          <p:cNvSpPr txBox="1">
            <a:spLocks/>
          </p:cNvSpPr>
          <p:nvPr/>
        </p:nvSpPr>
        <p:spPr>
          <a:xfrm>
            <a:off x="2813084" y="4062370"/>
            <a:ext cx="5572634" cy="456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-US" b="1" dirty="0"/>
              <a:t>(9 points) × (14 features) × (2 time steps) = 252 input 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76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9C16B77C-E3EB-56F3-ACE6-CA357BB53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1627E09-928F-4516-A22E-E97122F17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 err="1"/>
              <a:t>Arquitecture</a:t>
            </a:r>
            <a:r>
              <a:rPr lang="en-US" b="1" dirty="0"/>
              <a:t> Design</a:t>
            </a:r>
            <a:br>
              <a:rPr lang="en-US" b="1" dirty="0"/>
            </a:b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08076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B8F39535-A258-FF5F-CB59-86EBD5BFB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D35F0858-A3B3-B5E1-2220-9E08F6667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Architecture Design</a:t>
            </a:r>
            <a:br>
              <a:rPr lang="en-US" b="1" dirty="0"/>
            </a:br>
            <a:endParaRPr lang="en-US" sz="2400" b="1" dirty="0"/>
          </a:p>
        </p:txBody>
      </p:sp>
      <p:pic>
        <p:nvPicPr>
          <p:cNvPr id="7" name="Picture 6" descr="A diagram of a train procedure&#10;&#10;AI-generated content may be incorrect.">
            <a:extLst>
              <a:ext uri="{FF2B5EF4-FFF2-40B4-BE49-F238E27FC236}">
                <a16:creationId xmlns:a16="http://schemas.microsoft.com/office/drawing/2014/main" id="{F223C46B-2655-CD1A-D055-C1DA89B68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399" y="1441836"/>
            <a:ext cx="7099610" cy="295516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912431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CE4655DD-6552-6612-1F0F-D4E8DCF69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BF04F488-F196-594C-D129-2491D25E0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Architecture Design: </a:t>
            </a:r>
            <a:r>
              <a:rPr lang="en-US" sz="2400" dirty="0"/>
              <a:t>Autoencoder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22C69FE-ADBF-6FEF-AECD-48FED81C9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Design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Input: 252 dimensions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Latent </a:t>
            </a:r>
            <a:r>
              <a:rPr lang="fr-FR" sz="1600" dirty="0" err="1"/>
              <a:t>space</a:t>
            </a:r>
            <a:r>
              <a:rPr lang="fr-FR" sz="1600" dirty="0"/>
              <a:t>: 32 dimensions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Output: 252 dimensions (reconstruction)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Reduction factor: ~8x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Test Set Performance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NRMSE = 0.112</a:t>
            </a:r>
            <a:endParaRPr lang="en-US" sz="1600" b="1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(</a:t>
            </a:r>
            <a:r>
              <a:rPr lang="en-US" dirty="0"/>
              <a:t>Standard scaler and autoencoder saved for consistency in next phase)</a:t>
            </a:r>
            <a:endParaRPr lang="en-US" sz="1600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6027BA6F-F4D4-7C9D-464A-379E55AFCF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182" t="4191" r="2"/>
          <a:stretch>
            <a:fillRect/>
          </a:stretch>
        </p:blipFill>
        <p:spPr>
          <a:xfrm>
            <a:off x="7382107" y="-17683"/>
            <a:ext cx="1315844" cy="516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01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58D653C-A888-E779-3E04-3C08ABF5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22941EBA-82C4-5264-3538-03A0C725E3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Architecture Design: </a:t>
            </a:r>
            <a:r>
              <a:rPr lang="en-US" sz="2400" dirty="0"/>
              <a:t>Autoencoder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76E8C8E-C2C8-98AC-4BC2-94A742DC83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Design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Input: </a:t>
            </a:r>
            <a:r>
              <a:rPr lang="en-US" dirty="0"/>
              <a:t>32 latent features (encoded by autoencoder)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Layer 1:</a:t>
            </a:r>
            <a:r>
              <a:rPr lang="en-US" dirty="0"/>
              <a:t> 128 neurons (4× latent dimension)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Layer 2:</a:t>
            </a:r>
            <a:r>
              <a:rPr lang="en-US" dirty="0"/>
              <a:t> 64 neurons (½ of previous layer)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Activation:</a:t>
            </a:r>
            <a:r>
              <a:rPr lang="en-US" dirty="0"/>
              <a:t> </a:t>
            </a:r>
            <a:r>
              <a:rPr lang="en-US" dirty="0" err="1"/>
              <a:t>ReLU</a:t>
            </a:r>
            <a:r>
              <a:rPr lang="en-US" dirty="0"/>
              <a:t> (Rectified Linear Unit)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Regularization:</a:t>
            </a:r>
            <a:r>
              <a:rPr lang="en-US" dirty="0"/>
              <a:t> Dropout layer to prevent overfitting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Output: </a:t>
            </a:r>
            <a:r>
              <a:rPr lang="en-US" dirty="0"/>
              <a:t>3 wave parameters (</a:t>
            </a:r>
            <a:r>
              <a:rPr lang="en-US" dirty="0" err="1"/>
              <a:t>mwd</a:t>
            </a:r>
            <a:r>
              <a:rPr lang="en-US" dirty="0"/>
              <a:t>, </a:t>
            </a:r>
            <a:r>
              <a:rPr lang="en-US" dirty="0" err="1"/>
              <a:t>mwp</a:t>
            </a:r>
            <a:r>
              <a:rPr lang="en-US" dirty="0"/>
              <a:t>, </a:t>
            </a:r>
            <a:r>
              <a:rPr lang="en-US" dirty="0" err="1"/>
              <a:t>swh</a:t>
            </a:r>
            <a:r>
              <a:rPr lang="en-US" dirty="0"/>
              <a:t>)</a:t>
            </a:r>
          </a:p>
          <a:p>
            <a:pPr marL="152400" indent="0"/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Hyperparameters/Choices: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Algorithm: </a:t>
            </a:r>
            <a:r>
              <a:rPr lang="en-US" dirty="0"/>
              <a:t>Adam optimizer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Learning rate: </a:t>
            </a:r>
            <a:r>
              <a:rPr lang="en-US" dirty="0"/>
              <a:t>0.001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Loss function: </a:t>
            </a:r>
            <a:r>
              <a:rPr lang="en-US" dirty="0"/>
              <a:t>Mean Squared Error (MSE)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Epochs: </a:t>
            </a:r>
            <a:r>
              <a:rPr lang="en-US" dirty="0"/>
              <a:t>50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Batch size: </a:t>
            </a:r>
            <a:r>
              <a:rPr lang="en-US" dirty="0"/>
              <a:t>64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6941EA7-B5B8-5FEF-1CD2-3F6454200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8243" y="1196637"/>
            <a:ext cx="2801680" cy="1568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CB64CB-273A-DB13-50AE-75D985F37EFE}"/>
              </a:ext>
            </a:extLst>
          </p:cNvPr>
          <p:cNvSpPr txBox="1"/>
          <p:nvPr/>
        </p:nvSpPr>
        <p:spPr>
          <a:xfrm>
            <a:off x="5887471" y="2871160"/>
            <a:ext cx="24164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Generic MLP representation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97DFB0-7019-0144-320E-FF94227393D5}"/>
              </a:ext>
            </a:extLst>
          </p:cNvPr>
          <p:cNvSpPr txBox="1"/>
          <p:nvPr/>
        </p:nvSpPr>
        <p:spPr>
          <a:xfrm>
            <a:off x="7746381" y="996599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(3)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327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3A58ECB6-FA64-264E-F448-1F3E5CF08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E1D82259-ADD8-4329-5CCB-14486706D3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6600" b="1" dirty="0"/>
              <a:t>Results and Performance</a:t>
            </a:r>
            <a:br>
              <a:rPr lang="en-US" sz="6600" b="1" dirty="0"/>
            </a:br>
            <a:br>
              <a:rPr lang="en-US" sz="6600" b="1" dirty="0"/>
            </a:br>
            <a:br>
              <a:rPr lang="en-US" sz="6600" b="1" dirty="0"/>
            </a:br>
            <a:br>
              <a:rPr lang="en-US" sz="6600" dirty="0"/>
            </a:br>
            <a:endParaRPr sz="6600" dirty="0"/>
          </a:p>
        </p:txBody>
      </p:sp>
    </p:spTree>
    <p:extLst>
      <p:ext uri="{BB962C8B-B14F-4D97-AF65-F5344CB8AC3E}">
        <p14:creationId xmlns:p14="http://schemas.microsoft.com/office/powerpoint/2010/main" val="982587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4C7C13C-240D-0BAD-CA0D-A09B7BC3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D5CAE9B7-0EB5-849D-810A-9DB99C4468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mwd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11" name="Picture 10" descr="A graph with blue dots and red dots&#10;&#10;AI-generated content may be incorrect.">
            <a:extLst>
              <a:ext uri="{FF2B5EF4-FFF2-40B4-BE49-F238E27FC236}">
                <a16:creationId xmlns:a16="http://schemas.microsoft.com/office/drawing/2014/main" id="{B4D06FF6-EA3E-490D-B5BA-462E6FE2A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26" y="1242682"/>
            <a:ext cx="2973292" cy="2995276"/>
          </a:xfrm>
          <a:prstGeom prst="rect">
            <a:avLst/>
          </a:prstGeom>
        </p:spPr>
      </p:pic>
      <p:pic>
        <p:nvPicPr>
          <p:cNvPr id="13" name="Picture 12" descr="A graph of error distribution&#10;&#10;AI-generated content may be incorrect.">
            <a:extLst>
              <a:ext uri="{FF2B5EF4-FFF2-40B4-BE49-F238E27FC236}">
                <a16:creationId xmlns:a16="http://schemas.microsoft.com/office/drawing/2014/main" id="{1FA44534-3F5C-46EB-7993-0792BC596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036" y="1240502"/>
            <a:ext cx="4737666" cy="299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251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930B4301-5A38-E80A-8CA3-7D1EC63C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77256C5F-7C91-BEE9-05AA-4CDA13D770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mwd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3" name="Picture 2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345DF31-1AD6-7990-6028-3D45159B0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1283"/>
            <a:ext cx="9144000" cy="303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626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442C37CC-BA94-4E45-EAC5-64EAACDC6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7248EBB9-878F-8E60-20B2-49E42CBCB9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mwp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3" name="Picture 2" descr="A graph with blue dots and red lines&#10;&#10;AI-generated content may be incorrect.">
            <a:extLst>
              <a:ext uri="{FF2B5EF4-FFF2-40B4-BE49-F238E27FC236}">
                <a16:creationId xmlns:a16="http://schemas.microsoft.com/office/drawing/2014/main" id="{B94A96D7-EAFC-2FAA-F2BE-ABFCE7EC5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38" y="1343810"/>
            <a:ext cx="2916729" cy="2988000"/>
          </a:xfrm>
          <a:prstGeom prst="rect">
            <a:avLst/>
          </a:prstGeom>
        </p:spPr>
      </p:pic>
      <p:pic>
        <p:nvPicPr>
          <p:cNvPr id="5" name="Picture 4" descr="A graph of error distribution&#10;&#10;AI-generated content may be incorrect.">
            <a:extLst>
              <a:ext uri="{FF2B5EF4-FFF2-40B4-BE49-F238E27FC236}">
                <a16:creationId xmlns:a16="http://schemas.microsoft.com/office/drawing/2014/main" id="{F86316AE-ADC1-8B89-F936-AE9864EEC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302" y="1343810"/>
            <a:ext cx="4722721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40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D872EA56-A720-140A-5AE7-40C857EEE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48F98A0-F7B8-F8A3-E5B6-C7AD988C6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mwp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8" name="Picture 7" descr="A graph of a graph with a red dot&#10;&#10;AI-generated content may be incorrect.">
            <a:extLst>
              <a:ext uri="{FF2B5EF4-FFF2-40B4-BE49-F238E27FC236}">
                <a16:creationId xmlns:a16="http://schemas.microsoft.com/office/drawing/2014/main" id="{3807A96D-F1C5-E06B-5A30-AE014D86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8697"/>
            <a:ext cx="9144000" cy="305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280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C374F57-C40F-8EE9-8190-DD49DC94F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07D73EF-A91E-F575-4A86-792C82B8D6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swh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4" name="Picture 3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F95027FB-C373-6B0F-F59A-8F105FB91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57" y="1286996"/>
            <a:ext cx="2867383" cy="2988000"/>
          </a:xfrm>
          <a:prstGeom prst="rect">
            <a:avLst/>
          </a:prstGeom>
        </p:spPr>
      </p:pic>
      <p:pic>
        <p:nvPicPr>
          <p:cNvPr id="7" name="Picture 6" descr="A graph with blue and white bars&#10;&#10;AI-generated content may be incorrect.">
            <a:extLst>
              <a:ext uri="{FF2B5EF4-FFF2-40B4-BE49-F238E27FC236}">
                <a16:creationId xmlns:a16="http://schemas.microsoft.com/office/drawing/2014/main" id="{6869AD74-19FD-874D-B29D-ED71C1564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9996" y="1286996"/>
            <a:ext cx="4738005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5117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06DE16B-F7E0-B29A-E248-818BC953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39981A94-F639-F4E9-9C29-397F0B5751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swh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9" name="Picture 8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1A0C05DA-3793-0DE7-737B-9BE747EC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1776"/>
            <a:ext cx="9144000" cy="303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614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AC9CD6D6-CA23-C87B-77B4-929309552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342A9CC-8EDC-CE3C-C0D2-01827F557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D36ACE-CFD1-05D8-B3C3-5D60073EC879}"/>
              </a:ext>
            </a:extLst>
          </p:cNvPr>
          <p:cNvSpPr txBox="1"/>
          <p:nvPr/>
        </p:nvSpPr>
        <p:spPr>
          <a:xfrm>
            <a:off x="7746381" y="996599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(3)</a:t>
            </a:r>
            <a:endParaRPr lang="en-US" dirty="0">
              <a:solidFill>
                <a:schemeClr val="tx2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010A58C-2212-7787-0816-F35D324AC18B}"/>
              </a:ext>
            </a:extLst>
          </p:cNvPr>
          <p:cNvGraphicFramePr>
            <a:graphicFrameLocks noGrp="1"/>
          </p:cNvGraphicFramePr>
          <p:nvPr/>
        </p:nvGraphicFramePr>
        <p:xfrm>
          <a:off x="2550562" y="1672552"/>
          <a:ext cx="4042876" cy="1798396"/>
        </p:xfrm>
        <a:graphic>
          <a:graphicData uri="http://schemas.openxmlformats.org/drawingml/2006/table">
            <a:tbl>
              <a:tblPr firstRow="1" bandRow="1">
                <a:tableStyleId>{769D2820-3025-494B-BCA4-C2BF6F9F02E9}</a:tableStyleId>
              </a:tblPr>
              <a:tblGrid>
                <a:gridCol w="1010719">
                  <a:extLst>
                    <a:ext uri="{9D8B030D-6E8A-4147-A177-3AD203B41FA5}">
                      <a16:colId xmlns:a16="http://schemas.microsoft.com/office/drawing/2014/main" val="3840710068"/>
                    </a:ext>
                  </a:extLst>
                </a:gridCol>
                <a:gridCol w="1010719">
                  <a:extLst>
                    <a:ext uri="{9D8B030D-6E8A-4147-A177-3AD203B41FA5}">
                      <a16:colId xmlns:a16="http://schemas.microsoft.com/office/drawing/2014/main" val="1187602595"/>
                    </a:ext>
                  </a:extLst>
                </a:gridCol>
                <a:gridCol w="1010719">
                  <a:extLst>
                    <a:ext uri="{9D8B030D-6E8A-4147-A177-3AD203B41FA5}">
                      <a16:colId xmlns:a16="http://schemas.microsoft.com/office/drawing/2014/main" val="4133570226"/>
                    </a:ext>
                  </a:extLst>
                </a:gridCol>
                <a:gridCol w="1010719">
                  <a:extLst>
                    <a:ext uri="{9D8B030D-6E8A-4147-A177-3AD203B41FA5}">
                      <a16:colId xmlns:a16="http://schemas.microsoft.com/office/drawing/2014/main" val="3824557489"/>
                    </a:ext>
                  </a:extLst>
                </a:gridCol>
              </a:tblGrid>
              <a:tr h="44959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Target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MSE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MAE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NMAE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84672863"/>
                  </a:ext>
                </a:extLst>
              </a:tr>
              <a:tr h="44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mwd</a:t>
                      </a:r>
                      <a:endParaRPr lang="en-US" sz="160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100.72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7.84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0.0218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995499977"/>
                  </a:ext>
                </a:extLst>
              </a:tr>
              <a:tr h="44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mwp</a:t>
                      </a:r>
                      <a:endParaRPr lang="en-US" sz="160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0.0597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0.1929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0.0217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648037414"/>
                  </a:ext>
                </a:extLst>
              </a:tr>
              <a:tr h="44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swh</a:t>
                      </a:r>
                      <a:endParaRPr lang="en-US" sz="160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0.0454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0.1853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0.0253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16664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18105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ECDDAED-1ABB-CBBC-052F-34DA3D04B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78A4A887-2C3A-02A4-8877-64A9A5C77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Discussion: </a:t>
            </a:r>
            <a:r>
              <a:rPr lang="en-US" sz="2400" dirty="0"/>
              <a:t>Overall Performance Assessment</a:t>
            </a:r>
            <a:br>
              <a:rPr lang="en-US" sz="2400" b="1" dirty="0"/>
            </a:b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6473792-BBD1-8CFC-5CFB-3F39A6BC2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pPr marL="152400" indent="0"/>
            <a:r>
              <a:rPr lang="en-US" dirty="0"/>
              <a:t>The forecasting model demonstrated </a:t>
            </a:r>
            <a:r>
              <a:rPr lang="en-US" b="1" dirty="0"/>
              <a:t>overall good performance</a:t>
            </a:r>
            <a:r>
              <a:rPr lang="en-US" dirty="0"/>
              <a:t> for one-hour wave prediction.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Relatively low MAE and NMAE values across all variables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Model successfully learned from two previous time steps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Effective one-hour-ahead forecasting capability</a:t>
            </a:r>
          </a:p>
          <a:p>
            <a:endParaRPr lang="en-US" dirty="0"/>
          </a:p>
          <a:p>
            <a:pPr marL="152400" indent="0"/>
            <a:r>
              <a:rPr lang="en-US" dirty="0"/>
              <a:t>Compact autoencoder representation effectively preserved spatial and temporal dependencies while significantly reducing input dimensionality.</a:t>
            </a:r>
          </a:p>
          <a:p>
            <a:pPr marL="152400" indent="0"/>
            <a:endParaRPr lang="en-US" sz="1600" dirty="0"/>
          </a:p>
          <a:p>
            <a:r>
              <a:rPr lang="en-US" b="1" dirty="0">
                <a:solidFill>
                  <a:schemeClr val="accent1"/>
                </a:solidFill>
              </a:rPr>
              <a:t>Performance</a:t>
            </a:r>
            <a:endParaRPr lang="en-US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Forecasts generated in </a:t>
            </a:r>
            <a:r>
              <a:rPr lang="en-US" b="1" dirty="0"/>
              <a:t>seconds</a:t>
            </a:r>
            <a:r>
              <a:rPr lang="en-US" dirty="0"/>
              <a:t> on standard personal computer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Suitable for near real-time applications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No need for supercomputing infrastructure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Validates autoencoder-MLP framework</a:t>
            </a:r>
          </a:p>
          <a:p>
            <a:pPr marL="152400" indent="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348983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E6F0B057-5D8E-C384-8CB4-F3DF15ED2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EFA907A-FFE3-2BED-1EDD-98A2FBF2C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Conclusion and Next Steps: </a:t>
            </a:r>
            <a:r>
              <a:rPr lang="en-US" sz="2400" dirty="0"/>
              <a:t>Key Conclusions</a:t>
            </a:r>
            <a:br>
              <a:rPr lang="en-US" b="1" dirty="0"/>
            </a:b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C66DABE-3531-6C7C-8F56-774AA22C31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8"/>
            <a:ext cx="8118829" cy="2869840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Short-term wave forecasting in Azores region using data-driven approach is viable and effective.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Integration of autoencoder with MLP successful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252D → 32D compression effective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Accurate one-hour-ahead predictions achieved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Low normalized errors across all variables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Successfully captured while maintaining computational </a:t>
            </a:r>
            <a:r>
              <a:rPr lang="en-US" sz="1600" dirty="0" err="1"/>
              <a:t>lightweightness</a:t>
            </a:r>
            <a:endParaRPr lang="en-US" sz="1600" dirty="0"/>
          </a:p>
          <a:p>
            <a:pPr marL="152400" indent="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068784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1318DA7A-CF17-C796-5770-286B47430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587A18E-BBE2-85CB-11F5-05B1B1311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Conclusion and Next Steps: </a:t>
            </a:r>
            <a:r>
              <a:rPr lang="en-US" sz="2400" dirty="0"/>
              <a:t>Model Extension</a:t>
            </a:r>
            <a:br>
              <a:rPr lang="en-US" b="1" dirty="0"/>
            </a:br>
            <a:br>
              <a:rPr lang="en-US" b="1" dirty="0"/>
            </a:b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6" name="Picture 5" descr="A diagram of a procedure&#10;&#10;AI-generated content may be incorrect.">
            <a:extLst>
              <a:ext uri="{FF2B5EF4-FFF2-40B4-BE49-F238E27FC236}">
                <a16:creationId xmlns:a16="http://schemas.microsoft.com/office/drawing/2014/main" id="{BAAF8D6E-B155-2BBA-1687-11F8D0416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929" y="1136441"/>
            <a:ext cx="5373507" cy="3667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961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D970707B-C009-252C-1803-A31EC84B4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28EDF406-3F12-C86B-9B5E-003AFA271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06837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Images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50C47E0-36B7-068F-228F-741B0273E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pPr marL="495300" indent="-342900">
              <a:buFont typeface="+mj-lt"/>
              <a:buAutoNum type="arabicPeriod"/>
            </a:pPr>
            <a:r>
              <a:rPr lang="en-US" dirty="0">
                <a:hlinkClick r:id="rId3"/>
              </a:rPr>
              <a:t>https://www.ecmwf.int/en/about/media-centre/news/2015/course-probes-numerical-methods-weather-forecasting</a:t>
            </a:r>
            <a:r>
              <a:rPr lang="en-US" dirty="0"/>
              <a:t> </a:t>
            </a:r>
          </a:p>
          <a:p>
            <a:pPr marL="495300" indent="-342900">
              <a:buFont typeface="+mj-lt"/>
              <a:buAutoNum type="arabicPeriod"/>
            </a:pPr>
            <a:r>
              <a:rPr lang="en-US" dirty="0">
                <a:hlinkClick r:id="rId4"/>
              </a:rPr>
              <a:t>https://www.newswire.ca/news-releases/ibm-makes-higher-quality-weather-forecasts-available-worldwide-857519446.html</a:t>
            </a:r>
            <a:r>
              <a:rPr lang="en-US" dirty="0"/>
              <a:t> </a:t>
            </a:r>
          </a:p>
          <a:p>
            <a:pPr marL="495300" indent="-342900">
              <a:buFont typeface="+mj-lt"/>
              <a:buAutoNum type="arabicPeriod"/>
            </a:pPr>
            <a:r>
              <a:rPr lang="en-US" dirty="0">
                <a:hlinkClick r:id="rId5"/>
              </a:rPr>
              <a:t>https://commons.wikimedia.org/wiki/File:MultiLayerNeuralNetwork_english.png</a:t>
            </a:r>
            <a:r>
              <a:rPr lang="en-US" dirty="0"/>
              <a:t> </a:t>
            </a:r>
          </a:p>
          <a:p>
            <a:pPr marL="495300" indent="-342900">
              <a:buFont typeface="+mj-lt"/>
              <a:buAutoNum type="arabicPeriod"/>
            </a:pPr>
            <a:endParaRPr lang="en-US" dirty="0"/>
          </a:p>
          <a:p>
            <a:pPr marL="495300" indent="-342900">
              <a:buFont typeface="+mj-lt"/>
              <a:buAutoNum type="arabicPeriod"/>
            </a:pPr>
            <a:endParaRPr lang="en-US" dirty="0"/>
          </a:p>
          <a:p>
            <a:pPr marL="4953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202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>
          <a:extLst>
            <a:ext uri="{FF2B5EF4-FFF2-40B4-BE49-F238E27FC236}">
              <a16:creationId xmlns:a16="http://schemas.microsoft.com/office/drawing/2014/main" id="{D8AC74F5-8454-640B-7731-5583F77B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9BB9FA-F628-4289-0C50-B74258B8F6E4}"/>
              </a:ext>
            </a:extLst>
          </p:cNvPr>
          <p:cNvSpPr txBox="1"/>
          <p:nvPr/>
        </p:nvSpPr>
        <p:spPr>
          <a:xfrm>
            <a:off x="1518276" y="1634973"/>
            <a:ext cx="59976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8000" b="0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 Medium"/>
                <a:cs typeface="Alexandria Medium"/>
                <a:sym typeface="Alexandria Medium"/>
              </a:rPr>
              <a:t>Thank you!</a:t>
            </a:r>
            <a:endParaRPr lang="en-US" sz="4800" b="1" dirty="0">
              <a:solidFill>
                <a:schemeClr val="accent1"/>
              </a:solidFill>
              <a:latin typeface="Alexandria Medium"/>
              <a:cs typeface="Alexandria Medium"/>
            </a:endParaRPr>
          </a:p>
        </p:txBody>
      </p:sp>
      <p:sp>
        <p:nvSpPr>
          <p:cNvPr id="5" name="Google Shape;222;p37">
            <a:extLst>
              <a:ext uri="{FF2B5EF4-FFF2-40B4-BE49-F238E27FC236}">
                <a16:creationId xmlns:a16="http://schemas.microsoft.com/office/drawing/2014/main" id="{298DFC61-9497-3F45-10FC-A57917B2CEB5}"/>
              </a:ext>
            </a:extLst>
          </p:cNvPr>
          <p:cNvSpPr txBox="1">
            <a:spLocks/>
          </p:cNvSpPr>
          <p:nvPr/>
        </p:nvSpPr>
        <p:spPr>
          <a:xfrm>
            <a:off x="5049573" y="4474596"/>
            <a:ext cx="3834231" cy="4468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 b="1" dirty="0">
                <a:solidFill>
                  <a:schemeClr val="tx1"/>
                </a:solidFill>
              </a:rPr>
              <a:t>Bernardo Chagas, nº 103639, Grupo 9</a:t>
            </a:r>
          </a:p>
        </p:txBody>
      </p:sp>
    </p:spTree>
    <p:extLst>
      <p:ext uri="{BB962C8B-B14F-4D97-AF65-F5344CB8AC3E}">
        <p14:creationId xmlns:p14="http://schemas.microsoft.com/office/powerpoint/2010/main" val="2770364874"/>
      </p:ext>
    </p:extLst>
  </p:cSld>
  <p:clrMapOvr>
    <a:masterClrMapping/>
  </p:clrMapOvr>
</p:sld>
</file>

<file path=ppt/theme/theme1.xml><?xml version="1.0" encoding="utf-8"?>
<a:theme xmlns:a="http://schemas.openxmlformats.org/drawingml/2006/main" name="Lead Funnel by Slidesgo">
  <a:themeElements>
    <a:clrScheme name="Simple Light">
      <a:dk1>
        <a:srgbClr val="15110E"/>
      </a:dk1>
      <a:lt1>
        <a:srgbClr val="FFFAF6"/>
      </a:lt1>
      <a:dk2>
        <a:srgbClr val="C2E5F5"/>
      </a:dk2>
      <a:lt2>
        <a:srgbClr val="5296B8"/>
      </a:lt2>
      <a:accent1>
        <a:srgbClr val="135669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5110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1080</Words>
  <Application>Microsoft Office PowerPoint</Application>
  <PresentationFormat>On-screen Show (16:9)</PresentationFormat>
  <Paragraphs>243</Paragraphs>
  <Slides>32</Slides>
  <Notes>32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Albert Sans</vt:lpstr>
      <vt:lpstr>Alexandria Medium</vt:lpstr>
      <vt:lpstr>Wingdings</vt:lpstr>
      <vt:lpstr>Arial</vt:lpstr>
      <vt:lpstr>Lead Funnel by Slidesgo</vt:lpstr>
      <vt:lpstr>Wave Properties Forecasting</vt:lpstr>
      <vt:lpstr>01</vt:lpstr>
      <vt:lpstr>Introduction &amp; Problem Definition</vt:lpstr>
      <vt:lpstr>Project Overview</vt:lpstr>
      <vt:lpstr>The Challenge </vt:lpstr>
      <vt:lpstr>Project Goals</vt:lpstr>
      <vt:lpstr>ERA5 Dataset &amp; Data Preparation  </vt:lpstr>
      <vt:lpstr>ERA5 Dataset</vt:lpstr>
      <vt:lpstr>ERA5 Dataset: Variables</vt:lpstr>
      <vt:lpstr>ERA5 Dataset: Data Preparation Process </vt:lpstr>
      <vt:lpstr>ERA5 Dataset: Data Preparation Process </vt:lpstr>
      <vt:lpstr>PowerPoint Presentation</vt:lpstr>
      <vt:lpstr>Methodology &amp; Approach  </vt:lpstr>
      <vt:lpstr>Methodology &amp; Approach: Region Selection  </vt:lpstr>
      <vt:lpstr>Methodology &amp; Approach: General Approach  </vt:lpstr>
      <vt:lpstr>Arquitecture Design  </vt:lpstr>
      <vt:lpstr>Architecture Design </vt:lpstr>
      <vt:lpstr>Architecture Design: Autoencoder  </vt:lpstr>
      <vt:lpstr>Architecture Design: Autoencoder  </vt:lpstr>
      <vt:lpstr>Results and Performance    </vt:lpstr>
      <vt:lpstr>Results and Performance: mwd  </vt:lpstr>
      <vt:lpstr>Results and Performance: mwd  </vt:lpstr>
      <vt:lpstr>Results and Performance: mwp  </vt:lpstr>
      <vt:lpstr>Results and Performance: mwp  </vt:lpstr>
      <vt:lpstr>Results and Performance: swh  </vt:lpstr>
      <vt:lpstr>Results and Performance: swh  </vt:lpstr>
      <vt:lpstr>Results and Performance  </vt:lpstr>
      <vt:lpstr>Discussion: Overall Performance Assessment   </vt:lpstr>
      <vt:lpstr>Conclusion and Next Steps: Key Conclusions   </vt:lpstr>
      <vt:lpstr>Conclusion and Next Steps: Model Extension    </vt:lpstr>
      <vt:lpstr>Images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BERNARDO MORAIS CHAGAS</cp:lastModifiedBy>
  <cp:revision>7</cp:revision>
  <dcterms:modified xsi:type="dcterms:W3CDTF">2025-10-21T14:42:15Z</dcterms:modified>
</cp:coreProperties>
</file>